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600" b="1">
                <a:solidFill>
                  <a:srgbClr val="3157D5"/>
                </a:solidFill>
                <a:latin typeface="Calibri"/>
                <a:ea typeface="微软雅黑"/>
              </a:rPr>
              <a:t>AI 能力测评智能体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22A3A"/>
                </a:solidFill>
                <a:latin typeface="Calibri"/>
                <a:ea typeface="微软雅黑"/>
              </a:rPr>
              <a:t>六维能力测评 · 自适应出题 · 大模型自动评分 · 三角色平台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069080"/>
            <a:ext cx="5971032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4224528"/>
            <a:ext cx="5696712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A7486"/>
                </a:solidFill>
                <a:latin typeface="Calibri"/>
                <a:ea typeface="微软雅黑"/>
              </a:rPr>
              <a:t>版本 v1.5.0　题库 300 题　六维模型　单元测试 50 项全绿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A7486"/>
                </a:solidFill>
                <a:latin typeface="Calibri"/>
                <a:ea typeface="微软雅黑"/>
              </a:rPr>
              <a:t>A01 数字马力杯 · 技术方案演示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要解决的问题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A7486"/>
                </a:solidFill>
                <a:latin typeface="Calibri"/>
                <a:ea typeface="微软雅黑"/>
              </a:rPr>
              <a:t>面向高校与企业 AI 素养测评的现状缺口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2057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8132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能力标准缺失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5175504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学员不清楚该掌握哪些 AI 能力，缺乏可对标的等级标准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2057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3368" y="148132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2880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自评偏差大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121408"/>
            <a:ext cx="5175504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学员往往高估或低估自身水平，难以获得客观反馈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394960" cy="2057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381304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6052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测评手段单一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453128"/>
            <a:ext cx="5175504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传统考试无法考核人机协作、提示词工程、结果甄别等动态技能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394960" cy="2057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3368" y="381304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16052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规模化困难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453128"/>
            <a:ext cx="5175504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人工测评成本高、耗时长，难以在班级或全校范围开展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六维能力模型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A7486"/>
                </a:solidFill>
                <a:latin typeface="Calibri"/>
                <a:ea typeface="微软雅黑"/>
              </a:rPr>
              <a:t>每维 50 题，L1~L5 行为锚定分级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94960" cy="12984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35607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AI 基础认知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75688"/>
            <a:ext cx="5175504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模型原理、能力边界、上下文与幻觉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94960" cy="12984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3368" y="1435607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78308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提示词工程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75688"/>
            <a:ext cx="5175504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指令清晰、任务拆解、少样本、格式约束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07208"/>
            <a:ext cx="5394960" cy="12984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2916936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AI 工具使用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57016"/>
            <a:ext cx="5175504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通用大模型、办公插件、数据分析工具选型与组合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07208"/>
            <a:ext cx="5394960" cy="12984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3368" y="2916936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264408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结果评估与优化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557016"/>
            <a:ext cx="5175504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事实核验、幻觉识别、评分体系与迭代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88536"/>
            <a:ext cx="5394960" cy="12984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4398264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45736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人机协同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38344"/>
            <a:ext cx="5175504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分工、检查点、异常升级、人在回路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288536"/>
            <a:ext cx="5394960" cy="12984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3368" y="4398264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745736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伦理与合规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038344"/>
            <a:ext cx="5175504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隐私、版权、公平性、可解释性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06440"/>
            <a:ext cx="10908792" cy="457200"/>
          </a:xfrm>
          <a:prstGeom prst="round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157D5"/>
                </a:solidFill>
                <a:latin typeface="Calibri"/>
                <a:ea typeface="微软雅黑"/>
              </a:rPr>
              <a:t>题型结构：客观 30 + 开放/实操各 4 + 对话/代码/图像/判断各 3 · 答案位置 A/B/C/D 各 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A7486"/>
                </a:solidFill>
                <a:latin typeface="Calibri"/>
                <a:ea typeface="微软雅黑"/>
              </a:rPr>
              <a:t>四层分离 + LLM 评分适配层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932688"/>
          </a:xfrm>
          <a:prstGeom prst="roundRect">
            <a:avLst/>
          </a:prstGeom>
          <a:solidFill>
            <a:srgbClr val="E9EE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3157D5"/>
                </a:solidFill>
                <a:latin typeface="Calibri"/>
                <a:ea typeface="微软雅黑"/>
              </a:rPr>
              <a:t>前端：原生 HTML/CSS/JS 单页
Canvas 雷达图 · localStorage 状态 · 无构建依赖</a:t>
            </a:r>
          </a:p>
        </p:txBody>
      </p:sp>
      <p:sp>
        <p:nvSpPr>
          <p:cNvPr id="6" name="Down Arrow 5"/>
          <p:cNvSpPr/>
          <p:nvPr/>
        </p:nvSpPr>
        <p:spPr>
          <a:xfrm>
            <a:off x="3108960" y="2194560"/>
            <a:ext cx="274320" cy="256032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478024"/>
            <a:ext cx="5212080" cy="93268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22A3A"/>
                </a:solidFill>
                <a:latin typeface="Calibri"/>
                <a:ea typeface="微软雅黑"/>
              </a:rPr>
              <a:t>API 层：FastAPI
测评/报告 · AI助手/对话 · 题库/复核 · 企业/岗位</a:t>
            </a:r>
          </a:p>
        </p:txBody>
      </p:sp>
      <p:sp>
        <p:nvSpPr>
          <p:cNvPr id="8" name="Down Arrow 7"/>
          <p:cNvSpPr/>
          <p:nvPr/>
        </p:nvSpPr>
        <p:spPr>
          <a:xfrm>
            <a:off x="3108960" y="3438144"/>
            <a:ext cx="274320" cy="256032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721608"/>
            <a:ext cx="5212080" cy="93268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22A3A"/>
                </a:solidFill>
                <a:latin typeface="Calibri"/>
                <a:ea typeface="微软雅黑"/>
              </a:rPr>
              <a:t>领域服务层
自适应测评引擎 · LLM 评分适配 · 岗位匹配与匿名聚合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08960" y="4681728"/>
            <a:ext cx="274320" cy="256032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965192"/>
            <a:ext cx="5212080" cy="93268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22A3A"/>
                </a:solidFill>
                <a:latin typeface="Calibri"/>
                <a:ea typeface="微软雅黑"/>
              </a:rPr>
              <a:t>数据层：SQLite + JSON 种子
assessment.db · 题库 300 题 · evidence 证据文件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77440"/>
            <a:ext cx="2103120" cy="1371600"/>
          </a:xfrm>
          <a:prstGeom prst="roundRect">
            <a:avLst/>
          </a:prstGeom>
          <a:solidFill>
            <a:srgbClr val="E9EEFB"/>
          </a:solidFill>
          <a:ln w="12700">
            <a:solidFill>
              <a:srgbClr val="315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157D5"/>
                </a:solidFill>
                <a:latin typeface="Calibri"/>
                <a:ea typeface="微软雅黑"/>
              </a:rPr>
              <a:t>LLM 评分/对话
ant-line · 百宝箱
OpenAI 兼容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3017520"/>
            <a:ext cx="320040" cy="0"/>
          </a:xfrm>
          <a:prstGeom prst="line">
            <a:avLst/>
          </a:prstGeom>
          <a:ln w="19050">
            <a:solidFill>
              <a:srgbClr val="3157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72200" y="3977639"/>
            <a:ext cx="539496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FastAPI + Pydantic 入参校验，非法输入直接 422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SQLite 单文件，外键约束，事务自动提交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引擎状态快照存 JSON，刷新/重启可续答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评分失败显式降级，不冒充模型结果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自适应测评引擎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A7486"/>
                </a:solidFill>
                <a:latin typeface="Calibri"/>
                <a:ea typeface="微软雅黑"/>
              </a:rPr>
              <a:t>分层随机 + 置信度补测 + 末段主观题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920240" cy="868680"/>
          </a:xfrm>
          <a:prstGeom prst="roundRect">
            <a:avLst/>
          </a:prstGeom>
          <a:solidFill>
            <a:srgbClr val="E9EEFB"/>
          </a:solidFill>
          <a:ln w="12700">
            <a:solidFill>
              <a:srgbClr val="315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157D5"/>
                </a:solidFill>
                <a:latin typeface="Calibri"/>
                <a:ea typeface="微软雅黑"/>
              </a:rPr>
              <a:t>初始 12 题
六维轮转，难度 1/2</a:t>
            </a:r>
          </a:p>
        </p:txBody>
      </p:sp>
      <p:sp>
        <p:nvSpPr>
          <p:cNvPr id="6" name="Diamond 5"/>
          <p:cNvSpPr/>
          <p:nvPr/>
        </p:nvSpPr>
        <p:spPr>
          <a:xfrm>
            <a:off x="2743200" y="1344168"/>
            <a:ext cx="1463040" cy="777240"/>
          </a:xfrm>
          <a:prstGeom prst="diamond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A3A"/>
                </a:solidFill>
                <a:latin typeface="Calibri"/>
                <a:ea typeface="微软雅黑"/>
              </a:rPr>
              <a:t>已答 ≥ 12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34440"/>
            <a:ext cx="192024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A3A"/>
                </a:solidFill>
                <a:latin typeface="Calibri"/>
                <a:ea typeface="微软雅黑"/>
              </a:rPr>
              <a:t>自适应补测
置信度/薄弱维度排序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234440"/>
            <a:ext cx="192024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A3A"/>
                </a:solidFill>
                <a:latin typeface="Calibri"/>
                <a:ea typeface="微软雅黑"/>
              </a:rPr>
              <a:t>末段主观题
开放/实操/对话/代码/图像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234440"/>
            <a:ext cx="192024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A3A"/>
                </a:solidFill>
                <a:latin typeface="Calibri"/>
                <a:ea typeface="微软雅黑"/>
              </a:rPr>
              <a:t>生成报告
六维分数 + 雷达图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606040" y="1563624"/>
            <a:ext cx="201168" cy="219456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4224528" y="1563624"/>
            <a:ext cx="201168" cy="219456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6419088" y="1563624"/>
            <a:ext cx="201168" cy="219456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613648" y="1563624"/>
            <a:ext cx="201168" cy="219456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2402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A7486"/>
                </a:solidFill>
                <a:latin typeface="Calibri"/>
                <a:ea typeface="微软雅黑"/>
              </a:rPr>
              <a:t>否 → 继续作答；是 → 进入补测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计分：加权正确率 + 证据可靠度，从 50 分先验平滑收敛，单题不跳 0/100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同场按题目 ID 去重；候选题过滤由严到宽，题库稀疏时仍可抽到题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15 题场末段 3 类主观题，18/25 题场完整纳入 5 类（含代码/图像）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10908792" cy="1874519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0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98264"/>
            <a:ext cx="10634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图：mermaid 代码（复制到 mermaid.live 导出）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10634472" cy="1490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flowchart TD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A[初始 12 题: 六维轮转] --&gt; B{已答 &gt;= 12?}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B -- 否 --&gt; C[继续作答]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B -- 是 --&gt; D[按 置信度/分数 排序维度补题]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D --&gt; E{达到目标题量?}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E -- 否 --&gt; D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E -- 是 --&gt; F[末段 5 类主观题]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F --&gt; G[生成报告]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大模型调用与评分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A7486"/>
                </a:solidFill>
                <a:latin typeface="Calibri"/>
                <a:ea typeface="微软雅黑"/>
              </a:rPr>
              <a:t>四通道降级 + 结构化校验 + 人工复核闭环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03120" cy="960120"/>
          </a:xfrm>
          <a:prstGeom prst="roundRect">
            <a:avLst/>
          </a:prstGeom>
          <a:solidFill>
            <a:srgbClr val="E9EEFB"/>
          </a:solidFill>
          <a:ln w="12700">
            <a:solidFill>
              <a:srgbClr val="315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157D5"/>
                </a:solidFill>
                <a:latin typeface="Calibri"/>
                <a:ea typeface="微软雅黑"/>
              </a:rPr>
              <a:t>主观题作答
题目 + 答案 + 对话记录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234440"/>
            <a:ext cx="265176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A3A"/>
                </a:solidFill>
                <a:latin typeface="Calibri"/>
                <a:ea typeface="微软雅黑"/>
              </a:rPr>
              <a:t>评分通道
百宝箱 → ant-line → OpenAI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34440"/>
            <a:ext cx="228600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A3A"/>
                </a:solidFill>
                <a:latin typeface="Calibri"/>
                <a:ea typeface="微软雅黑"/>
              </a:rPr>
              <a:t>失败 → 规则评分
rubric-fallback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234440"/>
            <a:ext cx="219456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A3A"/>
                </a:solidFill>
                <a:latin typeface="Calibri"/>
                <a:ea typeface="微软雅黑"/>
              </a:rPr>
              <a:t>JSON 校验
分数钳制 0~满分</a:t>
            </a:r>
          </a:p>
        </p:txBody>
      </p:sp>
      <p:sp>
        <p:nvSpPr>
          <p:cNvPr id="9" name="Down Arrow 8"/>
          <p:cNvSpPr/>
          <p:nvPr/>
        </p:nvSpPr>
        <p:spPr>
          <a:xfrm>
            <a:off x="2788920" y="1600200"/>
            <a:ext cx="228600" cy="219456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989320" y="1600200"/>
            <a:ext cx="228600" cy="219456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8823960" y="1600200"/>
            <a:ext cx="228600" cy="219456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0" y="2606040"/>
            <a:ext cx="2194560" cy="868680"/>
          </a:xfrm>
          <a:prstGeom prst="roundRect">
            <a:avLst/>
          </a:prstGeom>
          <a:solidFill>
            <a:srgbClr val="E9EEFB"/>
          </a:solidFill>
          <a:ln w="12700">
            <a:solidFill>
              <a:srgbClr val="315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157D5"/>
                </a:solidFill>
                <a:latin typeface="Calibri"/>
                <a:ea typeface="微软雅黑"/>
              </a:rPr>
              <a:t>置信度 &lt; 0.75
强制人工复核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424160" y="2212848"/>
            <a:ext cx="219456" cy="256032"/>
          </a:xfrm>
          <a:prstGeom prst="downArrow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841248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每次远程调用 60s 超时；失败显式标注 warning 降级，不冒充模型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AI 助手按轮次回复，历史回放保证上下文连续（多轮剧本已修复并回归）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22A3A"/>
                </a:solidFill>
                <a:latin typeface="Calibri"/>
                <a:ea typeface="微软雅黑"/>
              </a:rPr>
              <a:t>• 模型返回 response_format=json_object，解析失败同样降级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08792" cy="1874519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0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98264"/>
            <a:ext cx="106344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图：mermaid 代码（复制到 mermaid.live 导出）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634472" cy="1490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flowchart TD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A[主观题作答] --&gt; B{通道优先级}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B -- 百宝箱 --&gt; C[百宝箱 /api/chat]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B -- ant-line --&gt; D[ant-line /chat/completions]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B -- OpenAI --&gt; E[Responses API]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C/D/E -- 失败 --&gt; F[规则评分 rubric-fallback]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F --&gt; G[JSON校验+分数钳制]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G --&gt; H{置信度&lt;0.75?}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H -- 是 --&gt; I[人工复核队列]</a:t>
            </a:r>
          </a:p>
          <a:p>
            <a:pPr>
              <a:lnSpc>
                <a:spcPct val="100000"/>
              </a:lnSpc>
            </a:pPr>
            <a:r>
              <a:rPr sz="950">
                <a:solidFill>
                  <a:srgbClr val="3A4A5A"/>
                </a:solidFill>
                <a:latin typeface="Consolas"/>
                <a:ea typeface="等线"/>
              </a:rPr>
              <a:t>    H -- 否 --&gt; J[入库]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数据存储与安全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3291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22A3A"/>
                </a:solidFill>
                <a:latin typeface="Calibri"/>
                <a:ea typeface="微软雅黑"/>
              </a:rPr>
              <a:t>• SQLite 单文件 data/assessment.db；外键约束、事务自动提交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22A3A"/>
                </a:solidFill>
                <a:latin typeface="Calibri"/>
                <a:ea typeface="微软雅黑"/>
              </a:rPr>
              <a:t>• A01_DB_PATH 环境变量切换测试库，单元测试不碰真实数据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22A3A"/>
                </a:solidFill>
                <a:latin typeface="Calibri"/>
                <a:ea typeface="微软雅黑"/>
              </a:rPr>
              <a:t>• 题库 JSON 种子 + 数据库版本留痕（修改/启停记 question_versions）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22A3A"/>
                </a:solidFill>
                <a:latin typeface="Calibri"/>
                <a:ea typeface="微软雅黑"/>
              </a:rPr>
              <a:t>• 教师/企业口令 PBKDF2 哈希（12 万次迭代），会话令牌 7 天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22A3A"/>
                </a:solidFill>
                <a:latin typeface="Calibri"/>
                <a:ea typeface="微软雅黑"/>
              </a:rPr>
              <a:t>• 企业端只看匿名画像与匹配分，不接触原始答案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22A3A"/>
                </a:solidFill>
                <a:latin typeface="Calibri"/>
                <a:ea typeface="微软雅黑"/>
              </a:rPr>
              <a:t>• 学员数据最小化收集，可按测评维度追溯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371600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数据</a:t>
                      </a:r>
                    </a:p>
                  </a:txBody>
                  <a:tcPr>
                    <a:solidFill>
                      <a:srgbClr val="3157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存储位置</a:t>
                      </a:r>
                    </a:p>
                  </a:txBody>
                  <a:tcPr>
                    <a:solidFill>
                      <a:srgbClr val="3157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3157D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测评记录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SQLite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用户/测评/答案/复核/版本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题库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JSON 种子 + 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300 题 + 启停版本留痕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证据文件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data/evidence/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图片/文本，存路径 + SHA256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密钥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环境变量/配置文件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A3A"/>
                          </a:solidFill>
                          <a:latin typeface="Calibri"/>
                        </a:defRPr>
                      </a:pPr>
                      <a:r>
                        <a:rPr>
                          <a:ea typeface="微软雅黑"/>
                        </a:rPr>
                        <a:t>不写入代码与数据库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演示流程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A7486"/>
                </a:solidFill>
                <a:latin typeface="Calibri"/>
                <a:ea typeface="微软雅黑"/>
              </a:rPr>
              <a:t>六步走通完整测评闭环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2011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8132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33009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选择模式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3300984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首页选择 15/18/25 题，开始测评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520440" cy="2011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98848" y="148132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828800"/>
            <a:ext cx="33009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客观题作答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121408"/>
            <a:ext cx="3300984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选项随机打乱，提交即出判定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371600"/>
            <a:ext cx="3520440" cy="2011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7" y="148132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7" y="1828800"/>
            <a:ext cx="33009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AI 助手对话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7" y="2121408"/>
            <a:ext cx="3300984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真实模型，对话计入评分证据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520440" cy="2011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376732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14800"/>
            <a:ext cx="33009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生成报告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07408"/>
            <a:ext cx="3300984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雷达图、置信度、错题解析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520440" cy="2011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8848" y="376732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14800"/>
            <a:ext cx="33009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成长档案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407408"/>
            <a:ext cx="3300984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历次测评，点击进入单次报告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657600"/>
            <a:ext cx="3520440" cy="2011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47887" y="376732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7" y="4114800"/>
            <a:ext cx="33009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教师/企业端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7" y="4407408"/>
            <a:ext cx="3300984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看板画像与岗位投递闭环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验证情况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A7486"/>
                </a:solidFill>
                <a:latin typeface="Calibri"/>
                <a:ea typeface="微软雅黑"/>
              </a:rPr>
              <a:t>自动化测试 + 题库结构校验 + 仿真双评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1920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3157D5"/>
                </a:solidFill>
                <a:latin typeface="Calibri"/>
                <a:ea typeface="微软雅黑"/>
              </a:rPr>
              <a:t>50 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6420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2A3A"/>
                </a:solidFill>
                <a:latin typeface="Calibri"/>
                <a:ea typeface="微软雅黑"/>
              </a:rPr>
              <a:t>单元测试全绿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引擎/评分/鉴权/岗位闭环/选项乱序回归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1920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3157D5"/>
                </a:solidFill>
                <a:latin typeface="Calibri"/>
                <a:ea typeface="微软雅黑"/>
              </a:rPr>
              <a:t>76 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6420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2A3A"/>
                </a:solidFill>
                <a:latin typeface="Calibri"/>
                <a:ea typeface="微软雅黑"/>
              </a:rPr>
              <a:t>API 冒烟回归通过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测评全流程 + 管理端 + 企业端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394960" cy="1920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6732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3157D5"/>
                </a:solidFill>
                <a:latin typeface="Calibri"/>
                <a:ea typeface="微软雅黑"/>
              </a:rPr>
              <a:t>300 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587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2A3A"/>
                </a:solidFill>
                <a:latin typeface="Calibri"/>
                <a:ea typeface="微软雅黑"/>
              </a:rPr>
              <a:t>题库结构校验 valid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7091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每维 50 题，答案位置 A/B/C/D 各 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394960" cy="1920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6732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3157D5"/>
                </a:solidFill>
                <a:latin typeface="Calibri"/>
                <a:ea typeface="微软雅黑"/>
              </a:rPr>
              <a:t>0.932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8587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2A3A"/>
                </a:solidFill>
                <a:latin typeface="Calibri"/>
                <a:ea typeface="微软雅黑"/>
              </a:rPr>
              <a:t>仿真模型-人工相关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091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A7486"/>
                </a:solidFill>
                <a:latin typeface="Calibri"/>
                <a:ea typeface="微软雅黑"/>
              </a:rPr>
              <a:t>100 份样本 / 400 条评分（合成数据）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52160"/>
            <a:ext cx="10908792" cy="457200"/>
          </a:xfrm>
          <a:prstGeom prst="roundRect">
            <a:avLst/>
          </a:prstGeom>
          <a:solidFill>
            <a:srgbClr val="E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157D5"/>
                </a:solidFill>
                <a:latin typeface="Calibri"/>
                <a:ea typeface="微软雅黑"/>
              </a:rPr>
              <a:t>说明：等级阈值由仿真样本校准；真实学员试测与教师双评待补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后续工作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94960" cy="1920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64207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1168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真实验证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04288"/>
            <a:ext cx="5175504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30 人真实试测 + 教师双评，校准等级阈值与题目难度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94960" cy="1920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73368" y="1664207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01168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代码沙箱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304288"/>
            <a:ext cx="5175504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代码任务接入真实执行环境；图像题库替换真实对比素材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394960" cy="1920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385876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0624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数据层演进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98848"/>
            <a:ext cx="5175504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迁移 PostgreSQL，支持多租户与更大并发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49039"/>
            <a:ext cx="5394960" cy="1920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3858768"/>
            <a:ext cx="292608" cy="292608"/>
          </a:xfrm>
          <a:prstGeom prst="round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20624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2A3A"/>
                </a:solidFill>
                <a:latin typeface="Calibri"/>
                <a:ea typeface="微软雅黑"/>
              </a:rPr>
              <a:t>生态对接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498848"/>
            <a:ext cx="5175504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6A7486"/>
                </a:solidFill>
                <a:latin typeface="Calibri"/>
                <a:ea typeface="微软雅黑"/>
              </a:rPr>
              <a:t>LMS/证书体系：能力画像标准 JSON、授权投递与申诉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3157D5"/>
                </a:solidFill>
                <a:latin typeface="Calibri"/>
                <a:ea typeface="微软雅黑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051560" cy="41148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49240" cy="40233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3157D5"/>
                </a:solidFill>
                <a:latin typeface="Calibri"/>
                <a:ea typeface="微软雅黑"/>
              </a:rP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89204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六维模型 + 300 题库 + 自适应引擎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真实大模型评分（ant-line/百宝箱）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报告、成长档案、教师看板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企业岗位匹配与匿名画像闭环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人工双评、争议裁决、版本留痕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49240" cy="4023360"/>
          </a:xfrm>
          <a:prstGeom prst="roundRect">
            <a:avLst/>
          </a:prstGeom>
          <a:solidFill>
            <a:srgbClr val="E9EEFB"/>
          </a:solidFill>
          <a:ln w="12700">
            <a:solidFill>
              <a:srgbClr val="315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7276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3157D5"/>
                </a:solidFill>
                <a:latin typeface="Calibri"/>
                <a:ea typeface="微软雅黑"/>
              </a:rPr>
              <a:t>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89204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从功能开发转向真实验证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真实试测 + 教师双评数据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演示视频与稳定在线环境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222A3A"/>
                </a:solidFill>
                <a:latin typeface="Calibri"/>
                <a:ea typeface="微软雅黑"/>
              </a:rPr>
              <a:t>• 生态对接（LMS/证书/招聘）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06440"/>
            <a:ext cx="11183112" cy="457200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微软雅黑"/>
              </a:rPr>
              <a:t>评分三层降级、人工复核闭环、数据脱敏与版本留痕 —— 支撑真实效度验证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315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3157D5"/>
                </a:solidFill>
                <a:latin typeface="Calibri"/>
                <a:ea typeface="微软雅黑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A7486"/>
                </a:solidFill>
                <a:latin typeface="Calibri"/>
                <a:ea typeface="微软雅黑"/>
              </a:rPr>
              <a:t>演示环境：本地一键启动（python run.py），局域网 / 临时隧道可访问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A7486"/>
                </a:solidFill>
                <a:latin typeface="Calibri"/>
                <a:ea typeface="微软雅黑"/>
              </a:rPr>
              <a:t>评分通道：ant-line · 百宝箱 · OpenAI 兼容 · 本地规则四层降级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AI 能力测评智能体 · A01 数字马力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A7486"/>
                </a:solidFill>
                <a:latin typeface="Calibri"/>
                <a:ea typeface="微软雅黑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